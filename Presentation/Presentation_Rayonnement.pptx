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9" d="100"/>
          <a:sy n="89" d="100"/>
        </p:scale>
        <p:origin x="62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936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du Rayonnement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Photodiode et Spectromètre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5486400" cy="36576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487168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Métrologie – Capteurs de Rayonnement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Manipulation sur plaque d'essai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: lampe halogène · générateur UV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101C2C"/>
          </a:solidFill>
          <a:ln w="12700">
            <a:solidFill>
              <a:srgbClr val="101C2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81888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orale – Master / Licence Métrologie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en 7 parties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20116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280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47472" y="16184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utilisés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947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&amp; Spectromètre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50592" y="11430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143000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280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523744" y="16184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de fonctionnement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23744" y="1947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photoélectrique &amp; diffraction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26864" y="11430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143000"/>
            <a:ext cx="2011680" cy="731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0016" y="1280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700016" y="16184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Mise en œuvre – Conditionneur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700016" y="1947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de mesure &amp; convertisseur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03136" y="114300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143000"/>
            <a:ext cx="2011680" cy="73152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76288" y="12801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876288" y="161848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d'acquisition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76288" y="194767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source au PC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74320" y="265176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2651760"/>
            <a:ext cx="201168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" y="27889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347472" y="31272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Étalonnage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7472" y="34564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&amp; courbes de référence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2450592" y="265176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450592" y="2651760"/>
            <a:ext cx="201168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523744" y="27889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2523744" y="31272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Estimation des incertitudes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523744" y="34564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&amp; Type B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26864" y="2651760"/>
            <a:ext cx="2011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26864" y="2651760"/>
            <a:ext cx="2011680" cy="7315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0016" y="27889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700016" y="3127248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Mesures &amp; Analyse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700016" y="3456432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manipulations – Résultats &amp; discussion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– Capteurs utilisés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BPW34 · Spectromètre Ocean Optics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64008" cy="3566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(BPW34)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1527048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 semi-conducteur à jonction PN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Génère un courant proportionnel au flux lumineux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spectrale : 400–1100 nm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Utilisée en mode photovoltaïque (sans polarisation)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via multimètre → tension en mV/V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 1 : lampe en face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 2 : lampe perpendiculaire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114300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0" y="1143000"/>
            <a:ext cx="64008" cy="3566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207008"/>
            <a:ext cx="3794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Spectromètre + Fibre Optique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09160" y="1527048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Spectromètre à réseau de diffraction (Ocean Optics)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optique silice pour guider le rayonnement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l'intensité spectrale (coups / intégration)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 : 200–900 nm, résolution ~1 nm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 3 : source lampe halogène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 4 : source générateur UV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4663440"/>
            <a:ext cx="8321040" cy="3200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6817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capteurs mesurent une grandeur liée au rayonnement lumineux mais par des principes distincts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– Principe de fonctionnement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photoélectrique &amp; réseau de diffraction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84048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1556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– Effet photoélectrique interne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1554480"/>
            <a:ext cx="36576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Photon absorbé → paire électron-trou créée dans le semi-conducteur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Jonction PN sépare les charges → courant photovoltaïque I ∝ Φ (flux lumineux)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de charge convertit le courant en tension : U = R × 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Loi en 1/d² : l'éclairement décroît avec le carré de la distance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3611880"/>
            <a:ext cx="3840480" cy="594360"/>
          </a:xfrm>
          <a:prstGeom prst="rect">
            <a:avLst/>
          </a:prstGeom>
          <a:solidFill>
            <a:srgbClr val="EAF4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3675888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P / (4π d²)   →   U ∝ 1 / d²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931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115568"/>
            <a:ext cx="3749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Spectromètre – Réseau de diffraction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1554480"/>
            <a:ext cx="37490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Lumière collectée par la fibre optique → fente d'entrée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de diffraction disperse la lumière par longueur d'onde (λ)</a:t>
            </a:r>
            <a:endParaRPr lang="en-US" sz="12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Détecteur CCD linéaire mesure l'intensité pour chaque λ → spectre complet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 : intensité en 'coups' (nombre de photons détectés) par canal spectral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846320" y="3611880"/>
            <a:ext cx="3931920" cy="594360"/>
          </a:xfrm>
          <a:prstGeom prst="rect">
            <a:avLst/>
          </a:prstGeom>
          <a:solidFill>
            <a:srgbClr val="E8FAF5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36758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n·λ = d·sin(θ)   (équation du réseau)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434840" y="1097280"/>
            <a:ext cx="36576" cy="3108960"/>
          </a:xfrm>
          <a:prstGeom prst="rect">
            <a:avLst/>
          </a:prstGeom>
          <a:solidFill>
            <a:srgbClr val="DEE5EE"/>
          </a:solidFill>
          <a:ln w="12700">
            <a:solidFill>
              <a:srgbClr val="DEE5EE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– Mise en œuvre et Conditionneur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photodiode au multimètre · fibre optique vers spectromètre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931920" cy="320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Conditionneur – Photodiode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572768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600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5727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45920" y="157276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Lampe halogène positionnée à distance variable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2219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64592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BPW34 (jonction PN, mode photovoltaïque)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16352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28437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28163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645920" y="2816352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 de charge R en parallèle sur la photodiode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438144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46557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4381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645920" y="3438144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Multimètre numérique – mesure de tension U (V ou mV)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059936"/>
            <a:ext cx="320040" cy="3200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40873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85800" y="40599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645920" y="405993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 1 : lampe face / Manip 2 : lampe perpendiculaire (×)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116128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Conditionneur – Spectromètre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63440" y="1572768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63440" y="1600200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74920" y="15727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035040" y="1572768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Lampe / Générateur UV positionné(e) à distance variable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2194560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2221992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074920" y="21945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219456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optique silice (collecte et guide le rayonnement)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663440" y="2816352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663440" y="2843784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074920" y="281635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Entrée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035040" y="2816352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Fente d'entrée du spectromètre (largeur fixée)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3438144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663440" y="3465576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74920" y="34381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Détection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035040" y="3438144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+ CCD → spectre λ complet en une acquisition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663440" y="4059936"/>
            <a:ext cx="320040" cy="32004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663440" y="4087368"/>
            <a:ext cx="320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74920" y="405993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035040" y="4059936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OceanView : intégration temporelle, correction bkg, export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07408" y="1143000"/>
            <a:ext cx="36576" cy="3474720"/>
          </a:xfrm>
          <a:prstGeom prst="rect">
            <a:avLst/>
          </a:prstGeom>
          <a:solidFill>
            <a:srgbClr val="DEE5EE"/>
          </a:solidFill>
          <a:ln w="12700">
            <a:solidFill>
              <a:srgbClr val="DEE5EE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– Chaîne d'acquisition globale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capteur jusqu'à l'ordinateur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463040"/>
            <a:ext cx="1508760" cy="100584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004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Lampe / UV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783080" y="1965960"/>
            <a:ext cx="411480" cy="0"/>
          </a:xfrm>
          <a:prstGeom prst="line">
            <a:avLst/>
          </a:prstGeom>
          <a:noFill/>
          <a:ln w="25400">
            <a:solidFill>
              <a:srgbClr val="0A193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874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920240" y="1463040"/>
            <a:ext cx="150876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965960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RAYONNEMENT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6596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Propagation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29000" y="1965960"/>
            <a:ext cx="411480" cy="0"/>
          </a:xfrm>
          <a:prstGeom prst="line">
            <a:avLst/>
          </a:prstGeom>
          <a:noFill/>
          <a:ln w="25400">
            <a:solidFill>
              <a:srgbClr val="0A193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874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566160" y="1463040"/>
            <a:ext cx="1508760" cy="10058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11880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1188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74920" y="1965960"/>
            <a:ext cx="411480" cy="0"/>
          </a:xfrm>
          <a:prstGeom prst="line">
            <a:avLst/>
          </a:prstGeom>
          <a:noFill/>
          <a:ln w="25400">
            <a:solidFill>
              <a:srgbClr val="0A19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94960" y="1874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212080" y="1463040"/>
            <a:ext cx="150876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57800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CONDITIONNEUR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25780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Résistance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720840" y="1965960"/>
            <a:ext cx="411480" cy="0"/>
          </a:xfrm>
          <a:prstGeom prst="line">
            <a:avLst/>
          </a:prstGeom>
          <a:noFill/>
          <a:ln w="25400">
            <a:solidFill>
              <a:srgbClr val="0A193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18745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A193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1463040"/>
            <a:ext cx="1508760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  <a:effectLst>
            <a:outerShdw blurRad="63500" dist="254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903720" y="1508760"/>
            <a:ext cx="1417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903720" y="1920240"/>
            <a:ext cx="1417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D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Multimètre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D0E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PC/USB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2788920"/>
            <a:ext cx="8503920" cy="36576"/>
          </a:xfrm>
          <a:prstGeom prst="rect">
            <a:avLst/>
          </a:prstGeom>
          <a:solidFill>
            <a:srgbClr val="DEE5EE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2907792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1 – Photodiode vers Multimètre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74320" y="3218688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→ Résistance R → Multimètre (mesure U en V)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conversion CAN nécessaire (multimètre numérique intègre l'ADC)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754880" y="29077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2 – Spectromètre + Fibre optique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3218688"/>
            <a:ext cx="4114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optique → Fente d'entrée → Réseau → CCD → Convertisseur USB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Logiciel OceanView : traitement, affichage, export CSV des spectres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274320" y="4114800"/>
            <a:ext cx="8503920" cy="82296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60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Grandeur mesurée – Photodiode : </a:t>
            </a: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U (V) proportionnelle à l'éclairement 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Grandeur mesurée – Spectromètre : </a:t>
            </a:r>
            <a:r>
              <a:rPr lang="en-US" sz="1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Intensité spectrale (coups) intégrée sur le temps d'acquisition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– Étalonnage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Courbes de référence · Procédure d'étalonnage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11430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d'étalonnage – Photodiode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de référence fixée (distance connue : 15 mm)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lumineuse à puissance fixe et stable (lampe halogène)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la tension U₀ à la distance d₀ (valeur étalon)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la loi E ∝ 1/d² par variation de distance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Traçage de U = f(1/d²) → régression linéaire pour valider le modèle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754880" y="1143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d'étalonnage – Spectromètre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508760"/>
            <a:ext cx="4114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du dark current (fond noir, source éteinte)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Correction par spectre de référence (white reference) si disponible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d'intégration ajusté pour éviter la saturation du CCD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Étalonnage en longueur d'onde : raies spectrales connues (Hg, Ne)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Mesure de la bande spectrale intégrée à distance variable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07408" y="1143000"/>
            <a:ext cx="36576" cy="2377440"/>
          </a:xfrm>
          <a:prstGeom prst="rect">
            <a:avLst/>
          </a:prstGeom>
          <a:solidFill>
            <a:srgbClr val="DEE5EE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840480"/>
            <a:ext cx="8503920" cy="1097280"/>
          </a:xfrm>
          <a:prstGeom prst="rect">
            <a:avLst/>
          </a:prstGeom>
          <a:solidFill>
            <a:srgbClr val="FFF8F0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840480"/>
            <a:ext cx="64008" cy="109728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Précautions communes aux deux capteurs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206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Obscurité totale dans la boîte de mesure (fond noir, pas de lumière parasite)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Stabilisation thermique de la source avant mesure (attendre au moins 5 min)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Répétition de chaque mesure (min. 3 fois) pour estimer la dispersion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– Estimation des incertitudes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(statistique) · Type B (systématique)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3931920" cy="34747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de Type 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572768"/>
            <a:ext cx="3931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Basée sur l'analyse statistique de mesures répétées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 de l'écart-type expérimental s sur n mesures :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65760" y="2423160"/>
            <a:ext cx="3749040" cy="502920"/>
          </a:xfrm>
          <a:prstGeom prst="rect">
            <a:avLst/>
          </a:prstGeom>
          <a:solidFill>
            <a:srgbClr val="EAF4FB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46888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u_A = s / √n   ,   s = √[ Σ(xi–x̄)² / (n–1) ]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4320" y="2999232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photodiode : répétition des lectures multimètre (3 à 5 mesures)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 spectromètre : variation aléatoire du bruit de fond CCD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Typiquement : u_A(photodiode) ≈ ±0.02 V  |  u_A(spectro) ≈ ±50 000 coups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143000"/>
            <a:ext cx="4114800" cy="347472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17043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de Type B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63440" y="1572768"/>
            <a:ext cx="4114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Basée sur des informations non statistiques (constructeur, règle, loi physique)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distribution rectangulaire (résolution) 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754880" y="2423160"/>
            <a:ext cx="3931920" cy="502920"/>
          </a:xfrm>
          <a:prstGeom prst="rect">
            <a:avLst/>
          </a:prstGeom>
          <a:solidFill>
            <a:srgbClr val="FFF4EA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2468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u_B = Δ / √3   (Δ = demi-étendue de l'intervalle)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663440" y="2999232"/>
            <a:ext cx="4114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Multimètre : résolution 0,01 V → u_B = 0,01 / √3 ≈ 0,006 V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Règle graduée (distance) : résolution 1 mm → u_B = 0,5 / √3 ≈ 0,3 mm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composée :  u_C = √(u_A² + u_B²)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07408" y="1143000"/>
            <a:ext cx="36576" cy="3108960"/>
          </a:xfrm>
          <a:prstGeom prst="rect">
            <a:avLst/>
          </a:prstGeom>
          <a:solidFill>
            <a:srgbClr val="DEE5EE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4320" y="4407408"/>
            <a:ext cx="8503920" cy="50292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8056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 élargie (k=2, 95 %) :  U = 2 × u_C   —   À reporter sur chaque résultat de mesure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– Mesures : Photodiode (Manip 1 &amp; 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Tension vs distance – lampe face et perpendiculaire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78992"/>
            <a:ext cx="4297680" cy="24688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78992"/>
            <a:ext cx="4297680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8600" y="3639312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28600" y="3639312"/>
            <a:ext cx="64008" cy="128016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36758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– Manip 1 (face)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5760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Décroissance forte de 7,97 V → 0,61 V (×13)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Comportement conforme à la loi en 1/d² (alignement face capteur)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Palier à partir de ~45 cm : diffusion ambiante résiduelle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3639312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3639312"/>
            <a:ext cx="64008" cy="12801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00600" y="3675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– Manip 2 (perpendiculaire)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00600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Décroissance de 4,46 V → 0,36 V (×12) sur une courte distance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Valeurs initiales plus faibles qu'en face (angle de réception réduit)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Chute plus rapide : sensibilité angulaire de la photodiode bien visible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– Mesures : Spectromètre (Manip 3 &amp; 4)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 spectrale intégrée vs distance – lampe et générateur UV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78992"/>
            <a:ext cx="4297680" cy="246888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78992"/>
            <a:ext cx="4297680" cy="2468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28600" y="3639312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228600" y="3639312"/>
            <a:ext cx="64008" cy="1280160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365760" y="367588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– Manip 3 (lampe halogène)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65760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23,7 M → 0,6 M coups (rapport ×38) de 1,4 à 44,8 cm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Décroissance progressive : diffusion plus large grâce à la fibre omnidirectionnelle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Rupture de pente vers 65–70 cm : limite de détection du spectromètre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4663440" y="3639312"/>
            <a:ext cx="42976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63440" y="3639312"/>
            <a:ext cx="64008" cy="128016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800600" y="3675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– Manip 4 (générateur UV)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4800600" y="397764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97,3 M → 0,78 M coups (rapport ×125) de 1,4 à 18,2 cm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Décroissance très brutale → source plus directionnelle que la lampe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Intensité initiale 4× plus élevée : source UV plus puissante dans sa bande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9144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– Comparaison et Analyse globale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594360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4 manipulations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1078992"/>
            <a:ext cx="5029200" cy="2834640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94960" y="1078992"/>
          <a:ext cx="3566160" cy="2057400"/>
        </p:xfrm>
        <a:graphic>
          <a:graphicData uri="http://schemas.openxmlformats.org/drawingml/2006/table">
            <a:tbl>
              <a:tblPr/>
              <a:tblGrid>
                <a:gridCol w="8915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15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Capteur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Plage mesurée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93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 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Photodiode (face)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 – 7,97 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 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Photodiode (perp.)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0,36 – 4,46 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 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Spectromètre + fibre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 – 23,7 M coups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Manip 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Spectromètre + fibre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 – 97,3 M coups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5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394960" y="3401568"/>
            <a:ext cx="356616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5EE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5394960" y="3401568"/>
            <a:ext cx="64008" cy="150876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532120" y="343814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clés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532120" y="374904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en 1/d² est vérifiée pour les photodiodes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L'orientation de la photodiode influence fortement le signal (×2)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générateur UV est 4× plus intense que la lampe halogène dans sa bande</a:t>
            </a:r>
            <a:endParaRPr lang="en-US" sz="1000" dirty="0"/>
          </a:p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spectromètre offre une mesure spectrale : information supplémentaire vs photodiode</a:t>
            </a:r>
            <a:endParaRPr lang="en-US" sz="1000" dirty="0"/>
          </a:p>
        </p:txBody>
      </p:sp>
      <p:sp>
        <p:nvSpPr>
          <p:cNvPr id="7" name="Shape 8"/>
          <p:cNvSpPr/>
          <p:nvPr/>
        </p:nvSpPr>
        <p:spPr>
          <a:xfrm>
            <a:off x="228600" y="4526280"/>
            <a:ext cx="8686800" cy="384048"/>
          </a:xfrm>
          <a:prstGeom prst="rect">
            <a:avLst/>
          </a:prstGeom>
          <a:solidFill>
            <a:srgbClr val="0A1931"/>
          </a:solidFill>
          <a:ln w="12700">
            <a:solidFill>
              <a:srgbClr val="0A193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" y="455371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capteurs sont complémentaires : la photodiode mesure l'éclairement intégré, le spectromètre donne la distribution spectrale λ par λ.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9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097280"/>
            <a:ext cx="64008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972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Capteurs maîtrisés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Photodiode (BPW34) et spectromètre à fibre optique caractérisés sur plaque d'essai.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847088"/>
            <a:ext cx="64008" cy="5669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84708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Principe validé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103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loi en 1/d² est bien vérifiée expérimentalement pour l'éclairement.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596896"/>
            <a:ext cx="64008" cy="5669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59689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Chaîne d'acquisition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285292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source lumineuse jusqu'à la valeur numérique, deux chaînes distinctes et complémentaires.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3346704"/>
            <a:ext cx="64008" cy="56692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346704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Incertitudes maîtrisées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" y="360273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A (répétabilité) et B (résolution instrument) évalués et combinés.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096512"/>
            <a:ext cx="64008" cy="566928"/>
          </a:xfrm>
          <a:prstGeom prst="rect">
            <a:avLst/>
          </a:prstGeom>
          <a:solidFill>
            <a:srgbClr val="E87722"/>
          </a:solidFill>
          <a:ln w="12700">
            <a:solidFill>
              <a:srgbClr val="E877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409651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77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Bilan des mesures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435254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BB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configuration 'face' est plus sensible ; le générateur UV est plus énergétique et directionnel.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 — Questions 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1505</Words>
  <Application>Microsoft Office PowerPoint</Application>
  <PresentationFormat>On-screen Show (16:9)</PresentationFormat>
  <Paragraphs>231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Mesure du Rayonnement - TP Capteurs</dc:title>
  <dc:subject>PptxGenJS Presentation</dc:subject>
  <dc:creator>PptxGenJS</dc:creator>
  <cp:lastModifiedBy>Ets-MMinfo</cp:lastModifiedBy>
  <cp:revision>1</cp:revision>
  <dcterms:created xsi:type="dcterms:W3CDTF">2026-04-20T21:22:46Z</dcterms:created>
  <dcterms:modified xsi:type="dcterms:W3CDTF">2026-05-13T17:07:40Z</dcterms:modified>
</cp:coreProperties>
</file>